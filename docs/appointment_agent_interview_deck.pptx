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72033"/>
                </a:solidFill>
              </a:defRPr>
            </a:pPr>
            <a:r>
              <a:t>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200">
                <a:solidFill>
                  <a:srgbClr val="172033"/>
                </a:solidFill>
              </a:defRPr>
            </a:pPr>
            <a:r>
              <a:t>Appointment Scheduling AI Agent</a:t>
            </a:r>
          </a:p>
          <a:p>
            <a:pPr>
              <a:spcAft>
                <a:spcPts val="700"/>
              </a:spcAft>
              <a:defRPr sz="2200">
                <a:solidFill>
                  <a:srgbClr val="172033"/>
                </a:solidFill>
              </a:defRPr>
            </a:pPr>
            <a:r>
              <a:t>Text and voice assistant for booking, rescheduling, and canceling demo appointments.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86376"/>
                </a:solidFill>
              </a:defRPr>
            </a:pPr>
            <a:r>
              <a:t>Appointment Scheduling AI Agent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72033"/>
                </a:solidFill>
              </a:defRPr>
            </a:pPr>
            <a: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200">
                <a:solidFill>
                  <a:srgbClr val="172033"/>
                </a:solidFill>
              </a:defRPr>
            </a:pPr>
            <a:r>
              <a:t>Patients need a calm scheduling experience that can handle incomplete information, frustration, and voice input.</a:t>
            </a:r>
          </a:p>
          <a:p>
            <a:pPr>
              <a:spcAft>
                <a:spcPts val="700"/>
              </a:spcAft>
              <a:defRPr sz="2200">
                <a:solidFill>
                  <a:srgbClr val="172033"/>
                </a:solidFill>
              </a:defRPr>
            </a:pPr>
            <a:r>
              <a:t>The system must be safe because scheduling changes affect real-world commitments.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86376"/>
                </a:solidFill>
              </a:defRPr>
            </a:pPr>
            <a:r>
              <a:t>Appointment Scheduling AI Agent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72033"/>
                </a:solidFill>
              </a:defRPr>
            </a:pPr>
            <a: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200">
                <a:solidFill>
                  <a:srgbClr val="172033"/>
                </a:solidFill>
              </a:defRPr>
            </a:pPr>
            <a:r>
              <a:t>Build a small custom agent: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OpenAI for LLM, STT, and TTS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FastAPI for API and browser UI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Pydantic for schemas and validation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Deterministic scheduling tools for state changes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In-memory demo store for interview simplicity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86376"/>
                </a:solidFill>
              </a:defRPr>
            </a:pPr>
            <a:r>
              <a:t>Appointment Scheduling AI Agent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72033"/>
                </a:solidFill>
              </a:defRPr>
            </a:pPr>
            <a:r>
              <a:t>Core Principle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200">
                <a:solidFill>
                  <a:srgbClr val="172033"/>
                </a:solidFill>
              </a:defRPr>
            </a:pPr>
            <a:r>
              <a:t>The LLM talks. Tools mutate.</a:t>
            </a:r>
          </a:p>
          <a:p>
            <a:pPr>
              <a:spcAft>
                <a:spcPts val="700"/>
              </a:spcAft>
              <a:defRPr sz="2200">
                <a:solidFill>
                  <a:srgbClr val="172033"/>
                </a:solidFill>
              </a:defRPr>
            </a:pPr>
            <a:r>
              <a:t>The model can ask questions, reason, and request tools. It cannot directly book, cancel, or reschedule.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86376"/>
                </a:solidFill>
              </a:defRPr>
            </a:pPr>
            <a:r>
              <a:t>Appointment Scheduling AI Agent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72033"/>
                </a:solidFill>
              </a:defRPr>
            </a:pPr>
            <a:r>
              <a:t>Current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72033"/>
                </a:solidFill>
                <a:latin typeface="Courier New"/>
              </a:defRPr>
            </a:pPr>
            <a:r>
              <a:t>User text or audio</a:t>
            </a:r>
          </a:p>
          <a:p>
            <a:pPr>
              <a:spcAft>
                <a:spcPts val="700"/>
              </a:spcAft>
              <a:defRPr sz="1500">
                <a:solidFill>
                  <a:srgbClr val="172033"/>
                </a:solidFill>
                <a:latin typeface="Courier New"/>
              </a:defRPr>
            </a:pPr>
            <a:r>
              <a:t>-&gt; Browser UI</a:t>
            </a:r>
          </a:p>
          <a:p>
            <a:pPr>
              <a:spcAft>
                <a:spcPts val="700"/>
              </a:spcAft>
              <a:defRPr sz="1500">
                <a:solidFill>
                  <a:srgbClr val="172033"/>
                </a:solidFill>
                <a:latin typeface="Courier New"/>
              </a:defRPr>
            </a:pPr>
            <a:r>
              <a:t>-&gt; OpenAI STT if voice</a:t>
            </a:r>
          </a:p>
          <a:p>
            <a:pPr>
              <a:spcAft>
                <a:spcPts val="700"/>
              </a:spcAft>
              <a:defRPr sz="1500">
                <a:solidFill>
                  <a:srgbClr val="172033"/>
                </a:solidFill>
                <a:latin typeface="Courier New"/>
              </a:defRPr>
            </a:pPr>
            <a:r>
              <a:t>-&gt; Orchestrator</a:t>
            </a:r>
          </a:p>
          <a:p>
            <a:pPr>
              <a:spcAft>
                <a:spcPts val="700"/>
              </a:spcAft>
              <a:defRPr sz="1500">
                <a:solidFill>
                  <a:srgbClr val="172033"/>
                </a:solidFill>
                <a:latin typeface="Courier New"/>
              </a:defRPr>
            </a:pPr>
            <a:r>
              <a:t>-&gt; GPT-5.5 tool calling</a:t>
            </a:r>
          </a:p>
          <a:p>
            <a:pPr>
              <a:spcAft>
                <a:spcPts val="700"/>
              </a:spcAft>
              <a:defRPr sz="1500">
                <a:solidFill>
                  <a:srgbClr val="172033"/>
                </a:solidFill>
                <a:latin typeface="Courier New"/>
              </a:defRPr>
            </a:pPr>
            <a:r>
              <a:t>-&gt; Scheduling tools</a:t>
            </a:r>
          </a:p>
          <a:p>
            <a:pPr>
              <a:spcAft>
                <a:spcPts val="700"/>
              </a:spcAft>
              <a:defRPr sz="1500">
                <a:solidFill>
                  <a:srgbClr val="172033"/>
                </a:solidFill>
                <a:latin typeface="Courier New"/>
              </a:defRPr>
            </a:pPr>
            <a:r>
              <a:t>-&gt; Store</a:t>
            </a:r>
          </a:p>
          <a:p>
            <a:pPr>
              <a:spcAft>
                <a:spcPts val="700"/>
              </a:spcAft>
              <a:defRPr sz="1500">
                <a:solidFill>
                  <a:srgbClr val="172033"/>
                </a:solidFill>
                <a:latin typeface="Courier New"/>
              </a:defRPr>
            </a:pPr>
            <a:r>
              <a:t>-&gt; Sanitized response</a:t>
            </a:r>
          </a:p>
          <a:p>
            <a:pPr>
              <a:spcAft>
                <a:spcPts val="700"/>
              </a:spcAft>
              <a:defRPr sz="1500">
                <a:solidFill>
                  <a:srgbClr val="172033"/>
                </a:solidFill>
                <a:latin typeface="Courier New"/>
              </a:defRPr>
            </a:pPr>
            <a:r>
              <a:t>-&gt; Streaming UI</a:t>
            </a:r>
          </a:p>
          <a:p>
            <a:pPr>
              <a:spcAft>
                <a:spcPts val="700"/>
              </a:spcAft>
              <a:defRPr sz="1500">
                <a:solidFill>
                  <a:srgbClr val="172033"/>
                </a:solidFill>
                <a:latin typeface="Courier New"/>
              </a:defRPr>
            </a:pPr>
            <a:r>
              <a:t>-&gt; OpenAI TTS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86376"/>
                </a:solidFill>
              </a:defRPr>
            </a:pPr>
            <a:r>
              <a:t>Appointment Scheduling AI Agent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72033"/>
                </a:solidFill>
              </a:defRPr>
            </a:pPr>
            <a:r>
              <a:t>Full Agent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1. Receive text or audio input</a:t>
            </a:r>
          </a:p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2. Transcribe audio to English if needed</a:t>
            </a:r>
          </a:p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3. Check emergency rules before the LLM</a:t>
            </a:r>
          </a:p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4. Load session state and conversation history</a:t>
            </a:r>
          </a:p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5. Call the LLM with tool schemas</a:t>
            </a:r>
          </a:p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6. Validate and execute requested tool calls</a:t>
            </a:r>
          </a:p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7. Update appointment state only inside tools</a:t>
            </a:r>
          </a:p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8. Sanitize response for TTS</a:t>
            </a:r>
          </a:p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9. Log user, assistant, and tool events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10. Stream response to UI and optionally play TTS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86376"/>
                </a:solidFill>
              </a:defRPr>
            </a:pPr>
            <a:r>
              <a:t>Appointment Scheduling AI Agent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72033"/>
                </a:solidFill>
              </a:defRPr>
            </a:pPr>
            <a:r>
              <a:t>Agent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Keep deterministic business logic outside the LLM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Use typed schemas for all tool inputs and outputs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Require explicit confirmation for state-changing actions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Keep prompts short, specific, and testable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Add rule-based safety gates before model calls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Keep tool traces readable for debugging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Log session events for audit and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86376"/>
                </a:solidFill>
              </a:defRPr>
            </a:pPr>
            <a:r>
              <a:t>Appointment Scheduling AI Agent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72033"/>
                </a:solidFill>
              </a:defRPr>
            </a:pPr>
            <a:r>
              <a:t>Conversation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Per-session state tracks: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Message history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Pending action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Held slot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Pending booking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Last offered slots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Tool calls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Emergency status</a:t>
            </a:r>
          </a:p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Production storage should move from process memory to Redis or a database.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86376"/>
                </a:solidFill>
              </a:defRPr>
            </a:pPr>
            <a:r>
              <a:t>Appointment Scheduling AI Agent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72033"/>
                </a:solidFill>
              </a:defRPr>
            </a:pPr>
            <a:r>
              <a:t>Scheduling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Search only returns available slots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Hold prevents racing users from choosing the same slot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Book validates patient fields and confirmation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Cancel validates booking and confirmation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Reschedule validates existing booking, new slot, and confirmation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Double booking is blocked by backend constraints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86376"/>
                </a:solidFill>
              </a:defRPr>
            </a:pPr>
            <a:r>
              <a:t>Appointment Scheduling AI Agent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72033"/>
                </a:solidFill>
              </a:defRPr>
            </a:pPr>
            <a:r>
              <a:t>Voice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Hold-to-talk microphone input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Audio sent to OpenAI transcription with English language setting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Assistant response shown in chat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OpenAI speech output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Interrupt button stops playback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Voice upload retries once after transient fetch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86376"/>
                </a:solidFill>
              </a:defRPr>
            </a:pPr>
            <a:r>
              <a:t>Appointment Scheduling AI Agent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72033"/>
                </a:solidFill>
              </a:defRPr>
            </a:pPr>
            <a:r>
              <a:t>Current Streaming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200">
                <a:solidFill>
                  <a:srgbClr val="172033"/>
                </a:solidFill>
              </a:defRPr>
            </a:pPr>
            <a:r>
              <a:t>The browser uses `POST /chat/stream` to render assistant text progressively.</a:t>
            </a:r>
          </a:p>
          <a:p>
            <a:pPr>
              <a:spcAft>
                <a:spcPts val="700"/>
              </a:spcAft>
              <a:defRPr sz="2200">
                <a:solidFill>
                  <a:srgbClr val="172033"/>
                </a:solidFill>
              </a:defRPr>
            </a:pPr>
            <a:r>
              <a:t>Current implementation streams the completed assistant response after tool execution. This keeps tool mutation deterministic and easy to explain.</a:t>
            </a:r>
          </a:p>
          <a:p>
            <a:pPr>
              <a:spcAft>
                <a:spcPts val="700"/>
              </a:spcAft>
              <a:defRPr sz="2200">
                <a:solidFill>
                  <a:srgbClr val="172033"/>
                </a:solidFill>
              </a:defRPr>
            </a:pPr>
            <a:r>
              <a:t>Production upgrade: token streaming with explicit phases for thinking, tool execution, and final answer.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86376"/>
                </a:solidFill>
              </a:defRPr>
            </a:pPr>
            <a:r>
              <a:t>Appointment Scheduling AI Agent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033"/>
                </a:solidFill>
              </a:defRPr>
            </a:pPr>
            <a:r>
              <a:t>Production Target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72033"/>
                </a:solidFill>
                <a:latin typeface="Courier New"/>
              </a:defRPr>
            </a:pPr>
            <a:r>
              <a:t>Client apps</a:t>
            </a:r>
          </a:p>
          <a:p>
            <a:pPr>
              <a:spcAft>
                <a:spcPts val="700"/>
              </a:spcAft>
              <a:defRPr sz="1500">
                <a:solidFill>
                  <a:srgbClr val="172033"/>
                </a:solidFill>
                <a:latin typeface="Courier New"/>
              </a:defRPr>
            </a:pPr>
            <a:r>
              <a:t>-&gt; API gateway</a:t>
            </a:r>
          </a:p>
          <a:p>
            <a:pPr>
              <a:spcAft>
                <a:spcPts val="700"/>
              </a:spcAft>
              <a:defRPr sz="1500">
                <a:solidFill>
                  <a:srgbClr val="172033"/>
                </a:solidFill>
                <a:latin typeface="Courier New"/>
              </a:defRPr>
            </a:pPr>
            <a:r>
              <a:t>-&gt; Auth and rate limits</a:t>
            </a:r>
          </a:p>
          <a:p>
            <a:pPr>
              <a:spcAft>
                <a:spcPts val="700"/>
              </a:spcAft>
              <a:defRPr sz="1500">
                <a:solidFill>
                  <a:srgbClr val="172033"/>
                </a:solidFill>
                <a:latin typeface="Courier New"/>
              </a:defRPr>
            </a:pPr>
            <a:r>
              <a:t>-&gt; Chat service</a:t>
            </a:r>
          </a:p>
          <a:p>
            <a:pPr>
              <a:spcAft>
                <a:spcPts val="700"/>
              </a:spcAft>
              <a:defRPr sz="1500">
                <a:solidFill>
                  <a:srgbClr val="172033"/>
                </a:solidFill>
                <a:latin typeface="Courier New"/>
              </a:defRPr>
            </a:pPr>
            <a:r>
              <a:t>-&gt; Orchestrator workers</a:t>
            </a:r>
          </a:p>
          <a:p>
            <a:pPr>
              <a:spcAft>
                <a:spcPts val="700"/>
              </a:spcAft>
              <a:defRPr sz="1500">
                <a:solidFill>
                  <a:srgbClr val="172033"/>
                </a:solidFill>
                <a:latin typeface="Courier New"/>
              </a:defRPr>
            </a:pPr>
            <a:r>
              <a:t>-&gt; Tool execution service</a:t>
            </a:r>
          </a:p>
          <a:p>
            <a:pPr>
              <a:spcAft>
                <a:spcPts val="700"/>
              </a:spcAft>
              <a:defRPr sz="1500">
                <a:solidFill>
                  <a:srgbClr val="172033"/>
                </a:solidFill>
                <a:latin typeface="Courier New"/>
              </a:defRPr>
            </a:pPr>
            <a:r>
              <a:t>-&gt; Scheduling/EHR integration</a:t>
            </a:r>
          </a:p>
          <a:p>
            <a:pPr>
              <a:spcAft>
                <a:spcPts val="700"/>
              </a:spcAft>
              <a:defRPr sz="1500">
                <a:solidFill>
                  <a:srgbClr val="172033"/>
                </a:solidFill>
                <a:latin typeface="Courier New"/>
              </a:defRPr>
            </a:pPr>
            <a:r>
              <a:t>-&gt; Session store</a:t>
            </a:r>
          </a:p>
          <a:p>
            <a:pPr>
              <a:spcAft>
                <a:spcPts val="700"/>
              </a:spcAft>
              <a:defRPr sz="1500">
                <a:solidFill>
                  <a:srgbClr val="172033"/>
                </a:solidFill>
                <a:latin typeface="Courier New"/>
              </a:defRPr>
            </a:pPr>
            <a:r>
              <a:t>-&gt; Audit log</a:t>
            </a:r>
          </a:p>
          <a:p>
            <a:pPr>
              <a:spcAft>
                <a:spcPts val="700"/>
              </a:spcAft>
              <a:defRPr sz="1500">
                <a:solidFill>
                  <a:srgbClr val="172033"/>
                </a:solidFill>
                <a:latin typeface="Courier New"/>
              </a:defRPr>
            </a:pPr>
            <a:r>
              <a:t>-&gt; Observability stack</a:t>
            </a:r>
          </a:p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Audio services can be split into STT and TTS workers for better latency isolation.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86376"/>
                </a:solidFill>
              </a:defRPr>
            </a:pPr>
            <a:r>
              <a:t>Appointment Scheduling AI Agent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72033"/>
                </a:solidFill>
              </a:defRPr>
            </a:pPr>
            <a:r>
              <a:t>Multi-User Scaling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Make API servers stateless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Store sessions in Redis or Postgres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Run multiple API replicas behind a load balancer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Use worker queues for slow STT, TTS, and external scheduling calls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Use connection pools for databases and EHR APIs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Partition logs by tenant, user, and session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Autoscale on request rate, latency, and queue 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86376"/>
                </a:solidFill>
              </a:defRPr>
            </a:pPr>
            <a:r>
              <a:t>Appointment Scheduling AI Agent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72033"/>
                </a:solidFill>
              </a:defRPr>
            </a:pPr>
            <a:r>
              <a:t>Handling 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Rate limit by user, tenant, and IP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Apply request timeouts and cancellation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Use retries with exponential backoff for transient provider errors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Circuit break failing external services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Cache low-risk reference data like specialties and provider metadata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Queue long-running audio jobs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Backpressure voice requests when queues are saturated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86376"/>
                </a:solidFill>
              </a:defRPr>
            </a:pPr>
            <a:r>
              <a:t>Appointment Scheduling AI Agent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72033"/>
                </a:solidFill>
              </a:defRPr>
            </a:pPr>
            <a:r>
              <a:t>Data Consistency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Appointment booking needs stronger consistency than chat.</a:t>
            </a:r>
          </a:p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Production approach: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Use database transactions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Add unique constraints on booked slot IDs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Use short-lived holds with expiration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Make booking operations idempotent with request IDs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Record all state changes in an audit log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Reconcile with the source scheduling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86376"/>
                </a:solidFill>
              </a:defRPr>
            </a:pPr>
            <a:r>
              <a:t>Appointment Scheduling AI Agent |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033"/>
                </a:solidFill>
              </a:defRPr>
            </a:pPr>
            <a:r>
              <a:t>Reliability And Failure Modes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172033"/>
                </a:solidFill>
              </a:defRPr>
            </a:pPr>
            <a:r>
              <a:t>Plan for:</a:t>
            </a:r>
          </a:p>
          <a:p>
            <a:pPr>
              <a:spcAft>
                <a:spcPts val="700"/>
              </a:spcAft>
              <a:defRPr sz="1400">
                <a:solidFill>
                  <a:srgbClr val="586376"/>
                </a:solidFill>
              </a:defRPr>
            </a:pPr>
            <a:r>
              <a:t>OpenAI latency or outage</a:t>
            </a:r>
          </a:p>
          <a:p>
            <a:pPr>
              <a:spcAft>
                <a:spcPts val="700"/>
              </a:spcAft>
              <a:defRPr sz="1400">
                <a:solidFill>
                  <a:srgbClr val="586376"/>
                </a:solidFill>
              </a:defRPr>
            </a:pPr>
            <a:r>
              <a:t>STT or TTS failure</a:t>
            </a:r>
          </a:p>
          <a:p>
            <a:pPr>
              <a:spcAft>
                <a:spcPts val="700"/>
              </a:spcAft>
              <a:defRPr sz="1400">
                <a:solidFill>
                  <a:srgbClr val="586376"/>
                </a:solidFill>
              </a:defRPr>
            </a:pPr>
            <a:r>
              <a:t>Scheduling backend timeout</a:t>
            </a:r>
          </a:p>
          <a:p>
            <a:pPr>
              <a:spcAft>
                <a:spcPts val="700"/>
              </a:spcAft>
              <a:defRPr sz="1400">
                <a:solidFill>
                  <a:srgbClr val="586376"/>
                </a:solidFill>
              </a:defRPr>
            </a:pPr>
            <a:r>
              <a:t>Duplicate requests</a:t>
            </a:r>
          </a:p>
          <a:p>
            <a:pPr>
              <a:spcAft>
                <a:spcPts val="700"/>
              </a:spcAft>
              <a:defRPr sz="1400">
                <a:solidFill>
                  <a:srgbClr val="586376"/>
                </a:solidFill>
              </a:defRPr>
            </a:pPr>
            <a:r>
              <a:t>User refreshes or reconnects</a:t>
            </a:r>
          </a:p>
          <a:p>
            <a:pPr>
              <a:spcAft>
                <a:spcPts val="700"/>
              </a:spcAft>
              <a:defRPr sz="1400">
                <a:solidFill>
                  <a:srgbClr val="586376"/>
                </a:solidFill>
              </a:defRPr>
            </a:pPr>
            <a:r>
              <a:t>Partial tool execution</a:t>
            </a:r>
          </a:p>
          <a:p>
            <a:pPr>
              <a:spcAft>
                <a:spcPts val="700"/>
              </a:spcAft>
              <a:defRPr sz="1400">
                <a:solidFill>
                  <a:srgbClr val="586376"/>
                </a:solidFill>
              </a:defRPr>
            </a:pPr>
            <a:r>
              <a:t>Browser microphone permission failure</a:t>
            </a:r>
          </a:p>
          <a:p>
            <a:pPr>
              <a:spcAft>
                <a:spcPts val="700"/>
              </a:spcAft>
              <a:defRPr sz="1400">
                <a:solidFill>
                  <a:srgbClr val="172033"/>
                </a:solidFill>
              </a:defRPr>
            </a:pPr>
            <a:r>
              <a:t>Fallbacks:</a:t>
            </a:r>
          </a:p>
          <a:p>
            <a:pPr>
              <a:spcAft>
                <a:spcPts val="700"/>
              </a:spcAft>
              <a:defRPr sz="1400">
                <a:solidFill>
                  <a:srgbClr val="586376"/>
                </a:solidFill>
              </a:defRPr>
            </a:pPr>
            <a:r>
              <a:t>Preserve text chat if voice fails</a:t>
            </a:r>
          </a:p>
          <a:p>
            <a:pPr>
              <a:spcAft>
                <a:spcPts val="700"/>
              </a:spcAft>
              <a:defRPr sz="1400">
                <a:solidFill>
                  <a:srgbClr val="586376"/>
                </a:solidFill>
              </a:defRPr>
            </a:pPr>
            <a:r>
              <a:t>Show clear retryable errors</a:t>
            </a:r>
          </a:p>
          <a:p>
            <a:pPr>
              <a:spcAft>
                <a:spcPts val="700"/>
              </a:spcAft>
              <a:defRPr sz="1400">
                <a:solidFill>
                  <a:srgbClr val="586376"/>
                </a:solidFill>
              </a:defRPr>
            </a:pPr>
            <a:r>
              <a:t>Hand off to human support when 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86376"/>
                </a:solidFill>
              </a:defRPr>
            </a:pPr>
            <a:r>
              <a:t>Appointment Scheduling AI Agent |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72033"/>
                </a:solidFill>
              </a:defRPr>
            </a:pPr>
            <a:r>
              <a:t>Security And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Healthcare-adjacent production systems need: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Authentication and authorization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Tenant isolation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Secrets management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Encryption in transit and at rest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Least-privilege access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PHI minimization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Retention and deletion policies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HIPAA and security review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Human handoff and escalation policies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86376"/>
                </a:solidFill>
              </a:defRPr>
            </a:pPr>
            <a:r>
              <a:t>Appointment Scheduling AI Agent |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72033"/>
                </a:solidFill>
              </a:defRPr>
            </a:pPr>
            <a:r>
              <a:t>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Track: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Request latency by endpoint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LLM latency and tool-call counts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STT and TTS latency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Tool success and error rates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Booking, cancel, and reschedule conversion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Emergency detection events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User interruption events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Cost per conversation</a:t>
            </a:r>
          </a:p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Use traces to connect user request, model call, tool call, and scheduling backend call.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86376"/>
                </a:solidFill>
              </a:defRPr>
            </a:pPr>
            <a:r>
              <a:t>Appointment Scheduling AI Agent |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72033"/>
                </a:solidFill>
              </a:defRPr>
            </a:pPr>
            <a:r>
              <a:t>Evaluation And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Evaluate: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Tool-call correctness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Confirmation compliance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Emergency routing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Hallucination rate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TTS readability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Latency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Conversation completion rate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User satisfaction</a:t>
            </a:r>
          </a:p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Use offline test sets plus live monitoring with privacy-safe review.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86376"/>
                </a:solidFill>
              </a:defRPr>
            </a:pPr>
            <a:r>
              <a:t>Appointment Scheduling AI Agent |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033"/>
                </a:solidFill>
              </a:defRPr>
            </a:pPr>
            <a:r>
              <a:t>Production Readiness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Real scheduling backend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Durable session store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Durable audit log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Auth and user identity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Monitoring and alerting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Retry, timeout, and circuit breaker policies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Load testing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Security review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Prompt and tool-call evals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Human handoff process</a:t>
            </a:r>
          </a:p>
          <a:p>
            <a:pPr>
              <a:spcAft>
                <a:spcPts val="700"/>
              </a:spcAft>
              <a:defRPr sz="1700">
                <a:solidFill>
                  <a:srgbClr val="586376"/>
                </a:solidFill>
              </a:defRPr>
            </a:pPr>
            <a:r>
              <a:t>Runbooks for incidents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86376"/>
                </a:solidFill>
              </a:defRPr>
            </a:pPr>
            <a:r>
              <a:t>Appointment Scheduling AI Agent |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72033"/>
                </a:solidFill>
              </a:defRPr>
            </a:pPr>
            <a:r>
              <a:t>Coding Interview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200">
                <a:solidFill>
                  <a:srgbClr val="172033"/>
                </a:solidFill>
              </a:defRPr>
            </a:pPr>
            <a:r>
              <a:t>How I would communicate: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Clarify requirements first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State assumptions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Keep implementation small and readable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Explain tradeoffs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Test critical invariants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Debug from narrow, observable signals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86376"/>
                </a:solidFill>
              </a:defRPr>
            </a:pPr>
            <a:r>
              <a:t>Appointment Scheduling AI Agent |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72033"/>
                </a:solidFill>
              </a:defRPr>
            </a:pPr>
            <a:r>
              <a:t>System Design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200">
                <a:solidFill>
                  <a:srgbClr val="172033"/>
                </a:solidFill>
              </a:defRPr>
            </a:pPr>
            <a:r>
              <a:t>How I would discuss scaling: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Start with requirements and success metrics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Separate chat, orchestration, tools, and scheduling backend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Make API services stateless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Move state to durable stores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Protect state-changing operations with transactions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Add observability, retries, and human handoff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86376"/>
                </a:solidFill>
              </a:defRPr>
            </a:pPr>
            <a:r>
              <a:t>Appointment Scheduling AI Agent |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72033"/>
                </a:solidFill>
              </a:defRPr>
            </a:pPr>
            <a:r>
              <a:t>Demo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Demo path:</a:t>
            </a:r>
          </a:p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1. Open browser UI</a:t>
            </a:r>
          </a:p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2. Ask for an appointment</a:t>
            </a:r>
          </a:p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3. Search slots</a:t>
            </a:r>
          </a:p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4. Hold selected slot</a:t>
            </a:r>
          </a:p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5. Confirm patient details</a:t>
            </a:r>
          </a:p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6. Book appointment</a:t>
            </a:r>
          </a:p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7. Show tool trace</a:t>
            </a:r>
          </a:p>
          <a:p>
            <a:pPr>
              <a:spcAft>
                <a:spcPts val="700"/>
              </a:spcAft>
              <a:defRPr sz="1700">
                <a:solidFill>
                  <a:srgbClr val="172033"/>
                </a:solidFill>
              </a:defRPr>
            </a:pPr>
            <a:r>
              <a:t>8. Test emergency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86376"/>
                </a:solidFill>
              </a:defRPr>
            </a:pPr>
            <a:r>
              <a:t>Appointment Scheduling AI Agent |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72033"/>
                </a:solidFill>
              </a:defRPr>
            </a:pPr>
            <a:r>
              <a:t>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Preventing unsafe model actions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Handling partial patient information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Keeping voice responses TTS-friendly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Recovering from transient browser audio failures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Balancing demo simplicity with production realism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Explaining production gaps honestly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86376"/>
                </a:solidFill>
              </a:defRPr>
            </a:pPr>
            <a:r>
              <a:t>Appointment Scheduling AI Agent |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033"/>
                </a:solidFill>
              </a:defRPr>
            </a:pPr>
            <a:r>
              <a:t>What Interviewers Should Notice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Technical depth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Clear ownership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Product thinking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Safety-oriented design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Testability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Practical tradeoff decisions</a:t>
            </a:r>
          </a:p>
          <a:p>
            <a:pPr>
              <a:spcAft>
                <a:spcPts val="700"/>
              </a:spcAft>
              <a:defRPr sz="2100">
                <a:solidFill>
                  <a:srgbClr val="586376"/>
                </a:solidFill>
              </a:defRPr>
            </a:pPr>
            <a:r>
              <a:t>Ability to explain the system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86376"/>
                </a:solidFill>
              </a:defRPr>
            </a:pPr>
            <a:r>
              <a:t>Appointment Scheduling AI Agent |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